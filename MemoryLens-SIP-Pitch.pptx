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5f83b2cb64193" /><Relationship Type="http://schemas.openxmlformats.org/officeDocument/2006/relationships/extended-properties" Target="/docProps/app.xml" Id="R7ce4dcc61bb742df" /><Relationship Type="http://schemas.openxmlformats.org/officeDocument/2006/relationships/officeDocument" Target="/ppt/presentation.xml" Id="Rb0f371f518e545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a9403d0bf4824"/>
  </p:sldMasterIdLst>
  <p:notesMasterIdLst>
    <p:notesMasterId xmlns:r="http://schemas.openxmlformats.org/officeDocument/2006/relationships" r:id="Rb1e6d594c69b44b4"/>
  </p:notesMasterIdLst>
  <p:sldIdLst>
    <p:sldId xmlns:r="http://schemas.openxmlformats.org/officeDocument/2006/relationships" id="256" r:id="Rbe71c7d9d9f74fcb"/>
    <p:sldId xmlns:r="http://schemas.openxmlformats.org/officeDocument/2006/relationships" id="257" r:id="Rdf6a94400b754123"/>
    <p:sldId xmlns:r="http://schemas.openxmlformats.org/officeDocument/2006/relationships" id="258" r:id="R27d1e3b425374653"/>
    <p:sldId xmlns:r="http://schemas.openxmlformats.org/officeDocument/2006/relationships" id="259" r:id="R0717fb4494a544d8"/>
    <p:sldId xmlns:r="http://schemas.openxmlformats.org/officeDocument/2006/relationships" id="260" r:id="R5997f3957b7747b6"/>
    <p:sldId xmlns:r="http://schemas.openxmlformats.org/officeDocument/2006/relationships" id="261" r:id="R385c45c19e6f4ba2"/>
    <p:sldId xmlns:r="http://schemas.openxmlformats.org/officeDocument/2006/relationships" id="262" r:id="Rc40fdd606cdf46b5"/>
    <p:sldId xmlns:r="http://schemas.openxmlformats.org/officeDocument/2006/relationships" id="263" r:id="Rc1b026cbc3244db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0697d3d6f40e8" /><Relationship Type="http://schemas.openxmlformats.org/officeDocument/2006/relationships/slideMaster" Target="/ppt/slideMasters/slideMaster1.xml" Id="Rf30a9403d0bf4824" /><Relationship Type="http://schemas.openxmlformats.org/officeDocument/2006/relationships/notesMaster" Target="/ppt/notesMasters/notesMaster1.xml" Id="Rb1e6d594c69b44b4" /><Relationship Type="http://schemas.openxmlformats.org/officeDocument/2006/relationships/presProps" Target="/ppt/presProps.xml" Id="Rd05f94aa0e044a9d" /><Relationship Type="http://schemas.openxmlformats.org/officeDocument/2006/relationships/viewProps" Target="/ppt/viewProps.xml" Id="R7ff01f682b534a35" /><Relationship Type="http://schemas.openxmlformats.org/officeDocument/2006/relationships/tableStyles" Target="/ppt/tableStyles.xml" Id="R922df143108e468a" /><Relationship Type="http://schemas.openxmlformats.org/officeDocument/2006/relationships/slide" Target="/ppt/slides/slide1.xml" Id="Rbe71c7d9d9f74fcb" /><Relationship Type="http://schemas.openxmlformats.org/officeDocument/2006/relationships/slide" Target="/ppt/slides/slide2.xml" Id="Rdf6a94400b754123" /><Relationship Type="http://schemas.openxmlformats.org/officeDocument/2006/relationships/slide" Target="/ppt/slides/slide3.xml" Id="R27d1e3b425374653" /><Relationship Type="http://schemas.openxmlformats.org/officeDocument/2006/relationships/slide" Target="/ppt/slides/slide4.xml" Id="R0717fb4494a544d8" /><Relationship Type="http://schemas.openxmlformats.org/officeDocument/2006/relationships/slide" Target="/ppt/slides/slide5.xml" Id="R5997f3957b7747b6" /><Relationship Type="http://schemas.openxmlformats.org/officeDocument/2006/relationships/slide" Target="/ppt/slides/slide6.xml" Id="R385c45c19e6f4ba2" /><Relationship Type="http://schemas.openxmlformats.org/officeDocument/2006/relationships/slide" Target="/ppt/slides/slide7.xml" Id="Rc40fdd606cdf46b5" /><Relationship Type="http://schemas.openxmlformats.org/officeDocument/2006/relationships/slide" Target="/ppt/slides/slide8.xml" Id="Rc1b026cbc324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136391768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3e938891e4e4d" /><Relationship Type="http://schemas.openxmlformats.org/officeDocument/2006/relationships/notesMaster" Target="/ppt/notesMasters/notesMaster1.xml" Id="R0b6e24dfb367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8cdd7248a4cac" /><Relationship Type="http://schemas.openxmlformats.org/officeDocument/2006/relationships/notesMaster" Target="/ppt/notesMasters/notesMaster1.xml" Id="R108c43d9ef40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9f20c4a3d74725" /><Relationship Type="http://schemas.openxmlformats.org/officeDocument/2006/relationships/notesMaster" Target="/ppt/notesMasters/notesMaster1.xml" Id="Rc068349afe5649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3b09ae4f3490c" /><Relationship Type="http://schemas.openxmlformats.org/officeDocument/2006/relationships/notesMaster" Target="/ppt/notesMasters/notesMaster1.xml" Id="R7449627b833e4a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9b292c0644708" /><Relationship Type="http://schemas.openxmlformats.org/officeDocument/2006/relationships/notesMaster" Target="/ppt/notesMasters/notesMaster1.xml" Id="Re52dbf8ee63d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0336572b84248" /><Relationship Type="http://schemas.openxmlformats.org/officeDocument/2006/relationships/notesMaster" Target="/ppt/notesMasters/notesMaster1.xml" Id="Rd03a75f9a9bc45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7276204b8c47bf" /><Relationship Type="http://schemas.openxmlformats.org/officeDocument/2006/relationships/notesMaster" Target="/ppt/notesMasters/notesMaster1.xml" Id="R14999fbe4f60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7074d8d584da2" /><Relationship Type="http://schemas.openxmlformats.org/officeDocument/2006/relationships/notesMaster" Target="/ppt/notesMasters/notesMaster1.xml" Id="Rcb687e5da91540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Alzheimer’s Association. (n.d.). Daily care plan. https://www.alz.org/help-support/caregiving/daily-care/daily-care-plan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 opened two developer-preview paths for Meta Ray-Ban Display: mobile app extensions and Web Apps. Source: Meta. (2026, May 14). The wait is over: Build for display glasses starting today. https://developers.meta.com/blog/build-for-display-glasses/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Guidelines: Refer to the Tech Resources document provided by your SIP Instructor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assumption: Meta Ray-Ban Display starts at $799. Source: Meta. (n.d.). Meta Ray-Ban Display glasses and Neural Band. https://www.meta.com/ai-glasses/meta-ray-ban-display-glasses-and-neural-band/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Alzheimer’s Association. (n.d.). Technology safety for older adults. https://www.alz.org/help-support/caregiving/safety/technology-safety-older-adults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art sources:</a:t>
            </a:r>
            <a:endParaRPr/>
          </a:p>
          <a:p xmlns:a="http://schemas.openxmlformats.org/drawingml/2006/main">
            <a:r>
              <a:t>CrossSense. (n.d.). CrossSense: AI smartglasses for early-stage dementia. https://crosssense.com/</a:t>
            </a:r>
            <a:endParaRPr/>
          </a:p>
          <a:p xmlns:a="http://schemas.openxmlformats.org/drawingml/2006/main">
            <a:r>
              <a:t>CarePredict. (2019, October 28). CarePredict launches Tempo Series 3. https://www.carepredict.com/news/carepredict-launches-tempo-series-3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prototype represents the MVP interaction. It records the wearer’s response state and does not verify medication adherence or replace a caregiver check-in.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17f0b2b3140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ce11fbb024e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c72c18b3f47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4a8ecee174d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164d8d58340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04b83cbde4e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054855a1646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e0bcfde5849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a68cab58a40c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33b6100ec4f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423e061934e9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DCC64-00A9-413F-816D-3AD15ACF6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AF546B8-0255-4F76-B2A4-35132337A1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4A47F6-AA71-4E52-A819-7573439722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48304-41C3-4E9B-B3AF-8C27156B8D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222A0C-F7CC-4522-A92A-1C0AEAEA09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1EFC02-9ADC-4EA7-AF2F-EDFFEAB7A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892819-7411-49DD-A7BA-8DD657B29F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9C73AB-CDB2-4464-A189-3902379A4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956E43-3621-4630-88A1-2F8BEAB5CF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49519E-ABB7-43F9-A71E-E5F7F7A2D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913378-7821-4D91-B7AC-F06825437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D490CA-FDBA-4700-B3D5-818863CA6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D0C623-0B64-4049-98C7-95AF05EF16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EAE0E5-BF1C-44BC-A701-CDAA4C285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444408-786E-4466-9437-9354E5A25B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9A85AA-20C5-4DD1-9AF9-1D7947FF5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81EFE1-561A-4FA9-AFA3-0DB291C3AE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2615A2-93CE-46FB-A164-7492B6002B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2CCA20-FC29-48C8-9686-C585884CEF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B722E2-DD1B-4CD3-84E1-3C8CF7EB3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1F2C31-E69E-4814-8C19-DF078A2C8F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FB7DF0-11FE-4398-811D-C0EF0E7FE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76944B-7AA7-41C7-916C-D0EE272569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543E51-D4DF-4665-8628-153EA0C891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0CFB365-CC69-4C3F-9F16-8A438B1318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34CFABD-29B6-4044-B304-56CBA02918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424D174-2D66-4DD6-9965-4D3050F170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C70454C-C697-4B8E-8D60-759FA1C2D1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8218BF-4438-435B-94DB-C9506DB38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B160CC-43EC-4427-8011-9658CFA57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10B5A2A-C2CC-494C-B92E-C14CD9EA9D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65C84A-B070-4E77-A955-D76118AF06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95FDA5-4F94-4BF9-A4BA-1D5B359330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0BDFFEC-7784-4E80-8F2B-422483F003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1EEBC68-8C65-40A2-A032-60C6A91DEE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349E035-9ADD-4416-8E01-A8F445F588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9808A9-3E1B-4780-9328-5608597BF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CEDE7A-2F1D-40A2-B987-6F90362AD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AF1F37-C021-4BBF-B0DE-82406B833D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5E2B2A-6CF8-45CD-B347-A3C90016AA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FD7231-4514-4FEC-97C2-7CA2B1D113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40E5D5-9D2C-4B46-A8C3-FD47A0C8C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19ECA0-AD39-4B82-8F8C-47AE155FA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AFAA4ED-A93E-4D91-B4B3-26A4C16A17E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657667-E32D-4AAE-BC72-111EC02454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D152513-7554-43F7-AD15-372C9539D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59B97C-E5CF-4023-AD2A-4C185CA990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6B27C3-16D3-4DE1-B48E-716E37A912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1FC79E-A849-4A00-83C0-7ED59712D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89F140-6127-4628-A3CA-DC6A6040C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566E31-E83A-4C3A-81AD-EFC52BCAEF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E0082A-BDF4-4BC6-B1AF-075FF19045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966BDF-FF6C-44C3-8611-9E8CCEE806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446B43-52BE-48D2-9BD8-23E98744D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B9C963-66EF-4C59-ACE0-B44CFB645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FB64CD-6295-41B0-A6D4-D2EE9E06DD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FEABBB-8759-40CB-9481-E03FE854F8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507824-3608-4512-A828-E56943D59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60403081647cb" /><Relationship Type="http://schemas.openxmlformats.org/officeDocument/2006/relationships/slideLayout" Target="/ppt/slideLayouts/slideLayout1.xml" Id="Rf7644a538677403e" /><Relationship Type="http://schemas.openxmlformats.org/officeDocument/2006/relationships/slideLayout" Target="/ppt/slideLayouts/slideLayout2.xml" Id="Re2b683caf4e24bbb" /><Relationship Type="http://schemas.openxmlformats.org/officeDocument/2006/relationships/slideLayout" Target="/ppt/slideLayouts/slideLayout3.xml" Id="Re5880845afad4316" /><Relationship Type="http://schemas.openxmlformats.org/officeDocument/2006/relationships/slideLayout" Target="/ppt/slideLayouts/slideLayout4.xml" Id="R5a7932dd1b464b57" /><Relationship Type="http://schemas.openxmlformats.org/officeDocument/2006/relationships/slideLayout" Target="/ppt/slideLayouts/slideLayout5.xml" Id="R567ebd82b2954cfb" /><Relationship Type="http://schemas.openxmlformats.org/officeDocument/2006/relationships/slideLayout" Target="/ppt/slideLayouts/slideLayout6.xml" Id="R52fc47a9c411465d" /><Relationship Type="http://schemas.openxmlformats.org/officeDocument/2006/relationships/slideLayout" Target="/ppt/slideLayouts/slideLayout7.xml" Id="R22dce2dd12254bc0" /><Relationship Type="http://schemas.openxmlformats.org/officeDocument/2006/relationships/slideLayout" Target="/ppt/slideLayouts/slideLayout8.xml" Id="Rf6c91d1a6f364b5d" /><Relationship Type="http://schemas.openxmlformats.org/officeDocument/2006/relationships/slideLayout" Target="/ppt/slideLayouts/slideLayout9.xml" Id="R3cbb5c22ca534694" /><Relationship Type="http://schemas.openxmlformats.org/officeDocument/2006/relationships/slideLayout" Target="/ppt/slideLayouts/slideLayout10.xml" Id="R4e05e46bcb7b48c8" /><Relationship Type="http://schemas.openxmlformats.org/officeDocument/2006/relationships/slideLayout" Target="/ppt/slideLayouts/slideLayout11.xml" Id="R9bf2bf049c2a44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AEBE2ED-03E5-453B-AC25-17AAABD7D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D3F8E8-7797-4B06-875E-47110BF1C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E931B2-2647-4295-B8D0-B5AD0185CB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36706BA-2FBC-44D1-BC71-B0BEA2B22CF8}" type="datetimeFigureOut">
              <a:t>10/29/24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B4A82E-95DC-4C2E-95CF-6747AE223AA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94FB13-12DB-43AE-B6CB-D054CA830E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22EF237-D547-44A5-AF8A-5389119E45A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644a538677403e"/>
    <p:sldLayoutId xmlns:r="http://schemas.openxmlformats.org/officeDocument/2006/relationships" id="2147483650" r:id="Re2b683caf4e24bbb"/>
    <p:sldLayoutId xmlns:r="http://schemas.openxmlformats.org/officeDocument/2006/relationships" id="2147483651" r:id="Re5880845afad4316"/>
    <p:sldLayoutId xmlns:r="http://schemas.openxmlformats.org/officeDocument/2006/relationships" id="2147483652" r:id="R5a7932dd1b464b57"/>
    <p:sldLayoutId xmlns:r="http://schemas.openxmlformats.org/officeDocument/2006/relationships" id="2147483653" r:id="R567ebd82b2954cfb"/>
    <p:sldLayoutId xmlns:r="http://schemas.openxmlformats.org/officeDocument/2006/relationships" id="2147483654" r:id="R52fc47a9c411465d"/>
    <p:sldLayoutId xmlns:r="http://schemas.openxmlformats.org/officeDocument/2006/relationships" id="2147483655" r:id="R22dce2dd12254bc0"/>
    <p:sldLayoutId xmlns:r="http://schemas.openxmlformats.org/officeDocument/2006/relationships" id="2147483656" r:id="Rf6c91d1a6f364b5d"/>
    <p:sldLayoutId xmlns:r="http://schemas.openxmlformats.org/officeDocument/2006/relationships" id="2147483657" r:id="R3cbb5c22ca534694"/>
    <p:sldLayoutId xmlns:r="http://schemas.openxmlformats.org/officeDocument/2006/relationships" id="2147483658" r:id="R4e05e46bcb7b48c8"/>
    <p:sldLayoutId xmlns:r="http://schemas.openxmlformats.org/officeDocument/2006/relationships" id="2147483659" r:id="R9bf2bf049c2a448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485716b034809" /><Relationship Type="http://schemas.openxmlformats.org/officeDocument/2006/relationships/image" Target="/ppt/media/image.jpeg" Id="R2900d57b34fe489b" /><Relationship Type="http://schemas.openxmlformats.org/officeDocument/2006/relationships/image" Target="/ppt/media/image.png" Id="Rec6a327066044628" /><Relationship Type="http://schemas.openxmlformats.org/officeDocument/2006/relationships/notesSlide" Target="/ppt/notesSlides/notesSlide1.xml" Id="R26d9be7dd99049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db6b8e7fb4bbf" /><Relationship Type="http://schemas.openxmlformats.org/officeDocument/2006/relationships/image" Target="/ppt/media/image.jpeg" Id="Rcd5a85d6caab4e02" /><Relationship Type="http://schemas.openxmlformats.org/officeDocument/2006/relationships/image" Target="/ppt/media/image.png" Id="R68943fed317749bb" /><Relationship Type="http://schemas.openxmlformats.org/officeDocument/2006/relationships/notesSlide" Target="/ppt/notesSlides/notesSlide2.xml" Id="R7b974049b36445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f6ef455b54d7c" /><Relationship Type="http://schemas.openxmlformats.org/officeDocument/2006/relationships/image" Target="/ppt/media/image.jpeg" Id="Re48caac60ba94936" /><Relationship Type="http://schemas.openxmlformats.org/officeDocument/2006/relationships/image" Target="/ppt/media/image.png" Id="R4202011c97804dbc" /><Relationship Type="http://schemas.openxmlformats.org/officeDocument/2006/relationships/notesSlide" Target="/ppt/notesSlides/notesSlide3.xml" Id="Rd4e0b0ef8a484b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3e62aa2c042ae" /><Relationship Type="http://schemas.openxmlformats.org/officeDocument/2006/relationships/image" Target="/ppt/media/image.jpeg" Id="R0f18b03d6af04784" /><Relationship Type="http://schemas.openxmlformats.org/officeDocument/2006/relationships/image" Target="/ppt/media/image.png" Id="R09fd226f8d07406e" /><Relationship Type="http://schemas.openxmlformats.org/officeDocument/2006/relationships/notesSlide" Target="/ppt/notesSlides/notesSlide4.xml" Id="R6166ab44fb3c42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10ff557784352" /><Relationship Type="http://schemas.openxmlformats.org/officeDocument/2006/relationships/image" Target="/ppt/media/image.jpeg" Id="Rf2b158adcad24203" /><Relationship Type="http://schemas.openxmlformats.org/officeDocument/2006/relationships/image" Target="/ppt/media/image.png" Id="Rb8f991201d344141" /><Relationship Type="http://schemas.openxmlformats.org/officeDocument/2006/relationships/notesSlide" Target="/ppt/notesSlides/notesSlide5.xml" Id="R9edd249d7e6644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0f097933a4763" /><Relationship Type="http://schemas.openxmlformats.org/officeDocument/2006/relationships/image" Target="/ppt/media/image.jpeg" Id="R362612b42551483c" /><Relationship Type="http://schemas.openxmlformats.org/officeDocument/2006/relationships/image" Target="/ppt/media/image.png" Id="R70f902b15bd8439c" /><Relationship Type="http://schemas.openxmlformats.org/officeDocument/2006/relationships/notesSlide" Target="/ppt/notesSlides/notesSlide6.xml" Id="R2cd7011cfc5645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a9e91fa36489a" /><Relationship Type="http://schemas.openxmlformats.org/officeDocument/2006/relationships/image" Target="/ppt/media/image.jpeg" Id="R13adbcd95f014efb" /><Relationship Type="http://schemas.openxmlformats.org/officeDocument/2006/relationships/image" Target="/ppt/media/image.png" Id="Ref7de5e6727c4607" /><Relationship Type="http://schemas.openxmlformats.org/officeDocument/2006/relationships/notesSlide" Target="/ppt/notesSlides/notesSlide7.xml" Id="Rf4eb7d8c9c1a43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5b7b75ed949f2" /><Relationship Type="http://schemas.openxmlformats.org/officeDocument/2006/relationships/image" Target="/ppt/media/image.jpeg" Id="Rc0ea59b097604c98" /><Relationship Type="http://schemas.openxmlformats.org/officeDocument/2006/relationships/notesSlide" Target="/ppt/notesSlides/notesSlide8.xml" Id="R0eedb1f0340c4e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0d57b34fe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Subtitle 2">
            <a:extLst xmlns:a="http://schemas.openxmlformats.org/drawingml/2006/main">
              <a:ext uri="{FF2B5EF4-FFF2-40B4-BE49-F238E27FC236}">
                <a16:creationId xmlns:a16="http://schemas.microsoft.com/office/drawing/2014/main" id="{91778248-5B9F-494E-9CC1-68E5981226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416062"/>
            <a:ext cx="9144000" cy="1318846"/>
          </a:xfrm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David Gregory</a:t>
            </a:r>
          </a:p>
          <a:p xmlns:a="http://schemas.openxmlformats.org/drawingml/2006/main">
            <a:pPr algn="ctr"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University of Advancing Technology</a:t>
            </a:r>
          </a:p>
          <a:p xmlns:a="http://schemas.openxmlformats.org/drawingml/2006/main">
            <a:pPr algn="ctr"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Computer Science, SIP311</a:t>
            </a:r>
          </a:p>
        </p:txBody>
      </p:sp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7653"/>
            <a:ext cx="9144000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585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585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MemoryLens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a327066044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59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a85d6caab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0" y="432583"/>
            <a:ext cx="11179127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Problem Statement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43fed3177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CA48F3-1B18-4830-981D-AD71F5C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57350"/>
            <a:ext cx="859155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2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People living with early-stage Alzheimer’s disease or other memory loss can forget daily tasks such as eating, drinking water, taking prescribed medication, or locking a door. Phone reminders may be missed or require navigating a screen.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2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hands-free, context-aware system could reinforce routines, document user-confirmed tasks, and help authorized caregivers provide assistance while supporting independence.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2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Why it matters: </a:t>
            </a:r>
            <a:r>
              <a:rPr sz="22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Alzheimer’s Association reports that planned routines can help both the person living with dementia and the caregiver.</a:t>
            </a:r>
          </a:p>
        </p:txBody>
      </p:sp>
    </p:spTree>
    <p:extLst>
      <p:ext uri="{BB962C8B-B14F-4D97-AF65-F5344CB8AC3E}">
        <p14:creationId xmlns:p14="http://schemas.microsoft.com/office/powerpoint/2010/main" val="4327906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caac60ba9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1" y="432583"/>
            <a:ext cx="9144000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Innovation Claim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2011c9780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4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B39017-4020-9DAE-2A4E-69C6C7FE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95450"/>
            <a:ext cx="85915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MemoryLens will extend a mobile task manager to Meta display glasses so people with early-stage memory loss can receive hands-free reminders and confirm tasks using simple voice or gesture input.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innovation combines wearable reminders with an uncertainty-aware caregiver log that separates completed, skipped, dismissed, and unanswered prompts.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Distinct value: </a:t>
            </a:r>
            <a:r>
              <a:rPr sz="232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system tracks intentional responses instead of treating passive sensor activity as proof that a task occurred.</a:t>
            </a:r>
          </a:p>
        </p:txBody>
      </p:sp>
    </p:spTree>
    <p:extLst>
      <p:ext uri="{BB962C8B-B14F-4D97-AF65-F5344CB8AC3E}">
        <p14:creationId xmlns:p14="http://schemas.microsoft.com/office/powerpoint/2010/main" val="36944714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8b03d6af0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0" y="432583"/>
            <a:ext cx="11179127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3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Technical Expertise &amp; Skills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d226f8d07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CA48F3-1B18-4830-981D-AD71F5C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00200"/>
            <a:ext cx="8858250" cy="433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5250" tIns="76200" rIns="95250" bIns="7620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Technical domain: </a:t>
            </a:r>
            <a:r>
              <a:rPr sz="18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wearable application development, accessible human-computer interaction, secure databases, and software testing.</a:t>
            </a:r>
          </a:p>
          <a:p xmlns:a="http://schemas.openxmlformats.org/drawingml/2006/main">
            <a:pPr marL="254000" indent="-127000" algn="l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UAT courses: CSC342 React Native I, CSC211 Introduction to Databases, CSC318 Software Engineering Principles, CSC350 Software Quality Assurance, and CSC442 Secure Coding.</a:t>
            </a:r>
          </a:p>
          <a:p xmlns:a="http://schemas.openxmlformats.org/drawingml/2006/main">
            <a:pPr marL="254000" indent="-127000" algn="l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Development skills: JavaScript, React Native, HTML/CSS, REST APIs, SQL, authentication, and Git.</a:t>
            </a:r>
          </a:p>
          <a:p xmlns:a="http://schemas.openxmlformats.org/drawingml/2006/main">
            <a:pPr marL="254000" indent="-127000" algn="l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Wearable skills: Meta Web Apps or mobile SDK integration, display constraints, voice input, and gesture controls.</a:t>
            </a:r>
          </a:p>
          <a:p xmlns:a="http://schemas.openxmlformats.org/drawingml/2006/main">
            <a:pPr marL="254000" indent="-127000" algn="l">
              <a:spcAft>
                <a:spcPts val="8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Research skills: cognitive accessibility, informed consent, privacy by design, and usability testing with older adults and caregivers.</a:t>
            </a:r>
          </a:p>
        </p:txBody>
      </p:sp>
    </p:spTree>
    <p:extLst>
      <p:ext uri="{BB962C8B-B14F-4D97-AF65-F5344CB8AC3E}">
        <p14:creationId xmlns:p14="http://schemas.microsoft.com/office/powerpoint/2010/main" val="3793280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158adcad24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1" y="432583"/>
            <a:ext cx="9144000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375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75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Project Description &amp; Scope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91201d344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CA48F3-1B18-4830-981D-AD71F5C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81150"/>
            <a:ext cx="8953500" cy="436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Scope: </a:t>
            </a:r>
            <a:r>
              <a:rPr sz="18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Build a working prototype with a caregiver task scheduler, a glasses reminder interface, four response states, a secure activity log, and an alert for unanswered high-priority prompts. The MVP will not diagnose disease, verify medication use, or store continuous video.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Timeline: </a:t>
            </a:r>
            <a:r>
              <a:rPr sz="18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SIP311 defines requirements and validates prior art. SIP321 completes interface design and architecture. SIP401 implements the prototype. SIP409 completes usability testing, documentation, and Showcase preparation.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Budget: </a:t>
            </a:r>
            <a:r>
              <a:rPr sz="1875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Estimated total: $899–$1,099. Meta Ray-Ban Display hardware starts at $799. Development tools can use free student tiers, with $100–$300 reserved for hosting, testing, and contingency.</a:t>
            </a:r>
          </a:p>
        </p:txBody>
      </p:sp>
    </p:spTree>
    <p:extLst>
      <p:ext uri="{BB962C8B-B14F-4D97-AF65-F5344CB8AC3E}">
        <p14:creationId xmlns:p14="http://schemas.microsoft.com/office/powerpoint/2010/main" val="13705369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612b42551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1" y="432583"/>
            <a:ext cx="9144000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Target Market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902b15bd843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8" name="Subtitle 2">
            <a:extLst xmlns:a="http://schemas.openxmlformats.org/drawingml/2006/main">
              <a:ext uri="{FF2B5EF4-FFF2-40B4-BE49-F238E27FC236}">
                <a16:creationId xmlns:a16="http://schemas.microsoft.com/office/drawing/2014/main" id="{014B4A6B-653C-42D0-A7B3-810ECE8F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885825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76200" rIns="76200" bIns="7620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Primary users: adults with early-stage Alzheimer’s disease, mild cognitive impairment, or other memory loss who can independently operate wearable technology.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Buyers and supporters: adult children, spouses, authorized caregivers, memory-care programs, and aging-in-place organizations.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User need: reminders must appear at the right time without requiring the user to find, unlock, and navigate a phone.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9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Created value: greater routine support for the wearer and clearer follow-up information for caregivers, while limiting unnecessary surveillance.</a:t>
            </a:r>
          </a:p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70B6CCC-23EC-FF06-488A-6370946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00750"/>
            <a:ext cx="8191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425" i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i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Safety position: MemoryLens supports routines and caregiver awareness. It does not replace medical care, emergency services, or regular human check-ins.</a:t>
            </a:r>
          </a:p>
        </p:txBody>
      </p:sp>
    </p:spTree>
    <p:extLst>
      <p:ext uri="{BB962C8B-B14F-4D97-AF65-F5344CB8AC3E}">
        <p14:creationId xmlns:p14="http://schemas.microsoft.com/office/powerpoint/2010/main" val="5496118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bcd95f01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83552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83ADB7-58F6-4900-B884-84A127F7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61" y="432583"/>
            <a:ext cx="9144000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  <a:def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600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Prior Art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de5e6727c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621" y="5106571"/>
            <a:ext cx="1446907" cy="1467877"/>
          </a:xfrm>
          <a:prstGeom xmlns:a="http://schemas.openxmlformats.org/drawingml/2006/main" prst="rect">
            <a:avLst/>
          </a:prstGeom>
        </p:spPr>
      </p:pic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CA48F3-1B18-4830-981D-AD71F5C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287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t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CrossSense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 AI companion for smart glasses that helps people living with dementia identify objects and complete daily activities. MemoryLens narrows the MVP to scheduled prompts, explicit completion states, and a caregiver-readable task history.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i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CrossSense. (n.d.). CrossSense: AI smartglasses for early-stage dementia. https://crosssense.com/</a:t>
            </a:r>
          </a:p>
        </p:txBody>
      </p:sp>
      <p:sp>
        <p:nvSpPr>
          <p:cNvPr id="8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5D2A12-F43E-4D68-8005-E19BE7F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43625"/>
            <a:ext cx="904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92593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350" i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i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Key distinction: MemoryLens logs what the wearer reports, without claiming that a reminder response proves the underlying activity occurred.</a:t>
            </a:r>
          </a:p>
        </p:txBody>
      </p:sp>
      <p:sp>
        <p:nvSpPr>
          <p:cNvPr id="12" name="CarePredict prior art">
            <a:extLst xmlns:a="http://schemas.openxmlformats.org/drawingml/2006/main">
              <a:ext uri="{FF2B5EF4-FFF2-40B4-BE49-F238E27FC236}">
                <a16:creationId xmlns:a16="http://schemas.microsoft.com/office/drawing/2014/main" id="{56F56F58-2B91-4CB2-ABEF-36907CA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CarePredict Tempo</a:t>
            </a:r>
          </a:p>
          <a:p xmlns:a="http://schemas.openxmlformats.org/drawingml/2006/main">
            <a:pPr algn="l"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wrist-worn platform that uses sensors and AI to identify changes in seniors’ daily activity patterns and alert caregivers. MemoryLens uses wearer-confirmed task responses through a glasses display and preserves uncertainty when no response occurs.</a:t>
            </a:r>
          </a:p>
          <a:p xmlns:a="http://schemas.openxmlformats.org/drawingml/2006/main">
            <a:pPr algn="l">
              <a:defRPr sz="16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i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CarePredict. (2019, October 28). CarePredict launches Tempo Series 3. https://www.carepredict.com/news/carepredict-launches-tempo-series-3</a:t>
            </a:r>
          </a:p>
        </p:txBody>
      </p:sp>
    </p:spTree>
    <p:extLst>
      <p:ext uri="{BB962C8B-B14F-4D97-AF65-F5344CB8AC3E}">
        <p14:creationId xmlns:p14="http://schemas.microsoft.com/office/powerpoint/2010/main" val="7291114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29250" y="3571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E1B32"/>
            </a:solidFill>
            <a:prstDash val="solid"/>
            <a:headEnd type="triangle" w="med" len="med"/>
          </a:ln>
        </p:spPr>
      </p:cxnSp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a59b09760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CA48F3-1B18-4830-981D-AD71F5C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43625"/>
            <a:ext cx="876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76200" tIns="57150" rIns="76200" bIns="57150" anchor="ctr">
            <a:normAutofit fontScale="92364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Prototype goal: demonstrate task scheduling, a glasses prompt, user response capture, and a privacy-limited caregiver log.</a:t>
            </a:r>
          </a:p>
        </p:txBody>
      </p:sp>
      <p:sp>
        <p:nvSpPr>
          <p:cNvPr id="2" name="Rectangle: Rounded Corners 1">
            <a:extLst xmlns:a="http://schemas.openxmlformats.org/drawingml/2006/main">
              <a:ext uri="{FF2B5EF4-FFF2-40B4-BE49-F238E27FC236}">
                <a16:creationId xmlns:a16="http://schemas.microsoft.com/office/drawing/2014/main" id="{739328C3-D4B4-4E23-92A0-C738557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" y="194310"/>
            <a:ext cx="11658600" cy="6480810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E04B23-E499-AA38-0B40-8E37F3A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09" y="476546"/>
            <a:ext cx="11365561" cy="1318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3225">
                <a:solidFill>
                  <a:srgbClr val="111111"/>
                </a:solidFill>
                <a:latin typeface="Century Gothic"/>
                <a:ea typeface="Century Gothic"/>
                <a:cs typeface="Century Gothic"/>
              </a:defRPr>
            </a:pPr>
            <a:r>
              <a:rPr sz="3225">
                <a:solidFill>
                  <a:srgbClr val="111111"/>
                </a:solidFill>
                <a:latin typeface="Century Gothic"/>
                <a:ea typeface="Century Gothic"/>
                <a:cs typeface="Century Gothic"/>
              </a:rPr>
              <a:t>Proof of Concept: Reminder to Caregiver Log</a:t>
            </a:r>
          </a:p>
        </p:txBody>
      </p:sp>
      <p:sp>
        <p:nvSpPr>
          <p:cNvPr id="8" name="Glasses prompt prototype">
            <a:extLst xmlns:a="http://schemas.openxmlformats.org/drawingml/2006/main">
              <a:ext uri="{FF2B5EF4-FFF2-40B4-BE49-F238E27FC236}">
                <a16:creationId xmlns:a16="http://schemas.microsoft.com/office/drawing/2014/main" id="{E8235AC3-A713-4A77-81DF-07C74AD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4619625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28575">
            <a:solidFill>
              <a:srgbClr val="9E1B32"/>
            </a:solidFill>
            <a:prstDash val="solid"/>
          </a:ln>
        </p:spPr>
        <p:txBody>
          <a:bodyPr xmlns:a="http://schemas.openxmlformats.org/drawingml/2006/main" wrap="square" lIns="190500" tIns="20955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8D8D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8D8D8"/>
                </a:solidFill>
                <a:latin typeface="Calibri"/>
                <a:ea typeface="Calibri"/>
                <a:cs typeface="Calibri"/>
              </a:rPr>
              <a:t>GLASSES VIEW</a:t>
            </a:r>
          </a:p>
          <a:p xmlns:a="http://schemas.openxmlformats.org/drawingml/2006/main">
            <a:pPr algn="ctr">
              <a:defRPr sz="1500">
                <a:solidFill>
                  <a:srgbClr val="D8D8D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8D8D8"/>
                </a:solidFill>
                <a:latin typeface="Calibri"/>
                <a:ea typeface="Calibri"/>
                <a:cs typeface="Calibri"/>
              </a:rPr>
              <a:t>9:00 AM</a:t>
            </a:r>
          </a:p>
          <a:p xmlns:a="http://schemas.openxmlformats.org/drawingml/2006/main">
            <a:pPr algn="ctr">
              <a:defRPr sz="1500">
                <a:solidFill>
                  <a:srgbClr val="D8D8D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8D8D8"/>
                </a:solidFill>
                <a:latin typeface="Calibri"/>
                <a:ea typeface="Calibri"/>
                <a:cs typeface="Calibri"/>
              </a:rPr>
              <a:t>Drink a glass of water</a:t>
            </a:r>
          </a:p>
          <a:p xmlns:a="http://schemas.openxmlformats.org/drawingml/2006/main">
            <a:pPr algn="ctr">
              <a:defRPr sz="1500">
                <a:solidFill>
                  <a:srgbClr val="D8D8D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8D8D8"/>
                </a:solidFill>
                <a:latin typeface="Calibri"/>
                <a:ea typeface="Calibri"/>
                <a:cs typeface="Calibri"/>
              </a:rPr>
              <a:t>Say or select a response</a:t>
            </a:r>
          </a:p>
          <a:p xmlns:a="http://schemas.openxmlformats.org/drawingml/2006/main">
            <a:pPr algn="ctr">
              <a:defRPr sz="1500">
                <a:solidFill>
                  <a:srgbClr val="D8D8D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8D8D8"/>
                </a:solidFill>
                <a:latin typeface="Calibri"/>
                <a:ea typeface="Calibri"/>
                <a:cs typeface="Calibri"/>
              </a:rPr>
              <a:t>COMPLETED     SKIP     REPEAT</a:t>
            </a:r>
          </a:p>
        </p:txBody>
      </p:sp>
      <p:sp>
        <p:nvSpPr>
          <p:cNvPr id="9" name="Caregiver log prototype">
            <a:extLst xmlns:a="http://schemas.openxmlformats.org/drawingml/2006/main">
              <a:ext uri="{FF2B5EF4-FFF2-40B4-BE49-F238E27FC236}">
                <a16:creationId xmlns:a16="http://schemas.microsoft.com/office/drawing/2014/main" id="{1A182606-1B3F-4F97-831D-6E3A22CE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619625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6B6B6B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CAREGIVER LOG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Today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8:00  Breakfast</a:t>
            </a:r>
            <a:r>
              <a:rPr sz="14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    Confirmed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9:00  Water</a:t>
            </a:r>
            <a:r>
              <a:rPr sz="14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         Completed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12:00 Medication</a:t>
            </a:r>
            <a:r>
              <a:rPr sz="1425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 Unanswered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Follow-up suggested</a:t>
            </a:r>
          </a:p>
          <a:p xmlns:a="http://schemas.openxmlformats.org/drawingml/2006/main">
            <a:pPr algn="l">
              <a:defRPr sz="142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425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Response status only. No continuous video stored.</a:t>
            </a:r>
          </a:p>
        </p:txBody>
      </p:sp>
      <p:sp>
        <p:nvSpPr>
          <p:cNvPr id="11" name="Prototype flow label">
            <a:extLst xmlns:a="http://schemas.openxmlformats.org/drawingml/2006/main">
              <a:ext uri="{FF2B5EF4-FFF2-40B4-BE49-F238E27FC236}">
                <a16:creationId xmlns:a16="http://schemas.microsoft.com/office/drawing/2014/main" id="{5A760A14-550C-4B9A-BE80-42F8A58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E1B32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946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E1B3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1B32"/>
                </a:solidFill>
                <a:latin typeface="Calibri"/>
                <a:ea typeface="Calibri"/>
                <a:cs typeface="Calibri"/>
              </a:rPr>
              <a:t>User response</a:t>
            </a:r>
          </a:p>
          <a:p xmlns:a="http://schemas.openxmlformats.org/drawingml/2006/main">
            <a:pPr algn="ctr">
              <a:defRPr sz="1200" b="1">
                <a:solidFill>
                  <a:srgbClr val="9E1B3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1B32"/>
                </a:solidFill>
                <a:latin typeface="Calibri"/>
                <a:ea typeface="Calibri"/>
                <a:cs typeface="Calibri"/>
              </a:rPr>
              <a:t>creates log entry</a:t>
            </a:r>
          </a:p>
        </p:txBody>
      </p:sp>
    </p:spTree>
    <p:extLst>
      <p:ext uri="{BB962C8B-B14F-4D97-AF65-F5344CB8AC3E}">
        <p14:creationId xmlns:p14="http://schemas.microsoft.com/office/powerpoint/2010/main" val="33092756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2026-09-27T20:31:05.6690000Z</dcterms:created>
  <dcterms:modified xsi:type="dcterms:W3CDTF">2026-09-27T20:31:05.6690000Z</dcterms:modified>
</coreProperties>
</file>